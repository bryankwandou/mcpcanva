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9125" y="433387"/>
            <a:ext cx="170497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9125" y="585787"/>
            <a:ext cx="381000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5" b="1">
                <a:solidFill>
                  <a:srgbClr val="0EA5E9"/>
                </a:solidFill>
                <a:latin typeface="Montserrat"/>
              </a:rPr>
              <a:t>VENTURE PITCH DECK //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335125" y="585787"/>
            <a:ext cx="333375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94A3B8"/>
                </a:solidFill>
                <a:latin typeface="Montserrat"/>
              </a:rPr>
              <a:t>CONFIDENTIAL &amp; PROPRIETARY</a:t>
            </a:r>
          </a:p>
        </p:txBody>
      </p:sp>
      <p:pic>
        <p:nvPicPr>
          <p:cNvPr id="5" name="Picture 4" descr="fintech_hero.jpg"/>
          <p:cNvPicPr>
            <a:picLocks noChangeAspect="1"/>
          </p:cNvPicPr>
          <p:nvPr/>
        </p:nvPicPr>
        <p:blipFill>
          <a:blip r:embed="rId2"/>
          <a:srcRect l="17536" r="17536"/>
          <a:stretch>
            <a:fillRect/>
          </a:stretch>
        </p:blipFill>
        <p:spPr>
          <a:xfrm>
            <a:off x="9770745" y="2263140"/>
            <a:ext cx="7898129" cy="67894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770745" y="2263140"/>
            <a:ext cx="7898129" cy="6789420"/>
          </a:xfrm>
          <a:prstGeom prst="rect">
            <a:avLst/>
          </a:prstGeom>
          <a:noFill/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961245" y="8442960"/>
            <a:ext cx="2476500" cy="419100"/>
          </a:xfrm>
          <a:prstGeom prst="rect">
            <a:avLst/>
          </a:prstGeom>
          <a:solidFill>
            <a:srgbClr val="0A0E17"/>
          </a:solidFill>
          <a:ln w="9525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61245" y="8519160"/>
            <a:ext cx="247650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75" b="1">
                <a:solidFill>
                  <a:srgbClr val="0EA5E9"/>
                </a:solidFill>
                <a:latin typeface="Montserrat"/>
              </a:rPr>
              <a:t>SERI A // Rp 50 MILIAR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125" y="2571750"/>
            <a:ext cx="8675370" cy="1905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8FAFC"/>
                </a:solidFill>
                <a:latin typeface="Montserrat"/>
              </a:rPr>
              <a:t>EKOSISTEM FINTECH &amp; AI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125" y="5657850"/>
            <a:ext cx="38100" cy="10477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7725" y="5657850"/>
            <a:ext cx="8446770" cy="1047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Montserrat"/>
              </a:rPr>
              <a:t>Infrastruktur Pembayaran Lintas Batas, Manajemen Risiko Dinamis, dan Inklusi Finansial Nasional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125" y="9096375"/>
            <a:ext cx="886587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125" y="9286875"/>
            <a:ext cx="677037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5" b="0">
                <a:solidFill>
                  <a:srgbClr val="94A3B8"/>
                </a:solidFill>
                <a:latin typeface="Montserrat"/>
              </a:rPr>
              <a:t>Direktorat Strategi &amp; Kemitraan Korporat ·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79995" y="9191625"/>
            <a:ext cx="1905000" cy="4191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79995" y="9267825"/>
            <a:ext cx="190500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75" b="1">
                <a:solidFill>
                  <a:srgbClr val="FFFFFF"/>
                </a:solidFill>
                <a:latin typeface="Montserrat"/>
              </a:rPr>
              <a:t>PITCH PROPOSAL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9125" y="433387"/>
            <a:ext cx="170497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9125" y="585787"/>
            <a:ext cx="381000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10B981"/>
                </a:solidFill>
                <a:latin typeface="Montserrat"/>
              </a:rPr>
              <a:t>01 / MARKET PAIN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9125" y="1645920"/>
            <a:ext cx="13716000" cy="666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50" b="1">
                <a:solidFill>
                  <a:srgbClr val="F8FAFC"/>
                </a:solidFill>
                <a:latin typeface="Montserrat"/>
              </a:rPr>
              <a:t>Inefisiensi Struktural yang Dihadapi Industri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9125" y="2468880"/>
            <a:ext cx="12801600" cy="4286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75" b="0">
                <a:solidFill>
                  <a:srgbClr val="94A3B8"/>
                </a:solidFill>
                <a:latin typeface="Montserrat"/>
              </a:rPr>
              <a:t>Kesenjangan tajam antara tuntutan kecepatan pasar dan infrastruktur warisan yang berjalan saat ini.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125" y="3600450"/>
            <a:ext cx="8382000" cy="2674620"/>
          </a:xfrm>
          <a:prstGeom prst="rect">
            <a:avLst/>
          </a:prstGeom>
          <a:solidFill>
            <a:srgbClr val="162032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9125" y="3600450"/>
            <a:ext cx="8382000" cy="285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7725" y="3790950"/>
            <a:ext cx="419100" cy="304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7725" y="3829050"/>
            <a:ext cx="419100" cy="266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1125" y="3810000"/>
            <a:ext cx="7429500" cy="333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Montserrat"/>
              </a:rPr>
              <a:t>Fragmentasi Sistem Warisan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7725" y="444"/>
            <a:ext cx="79248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7725" y="4343400"/>
            <a:ext cx="7924800" cy="7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5" b="0">
                <a:solidFill>
                  <a:srgbClr val="94A3B8"/>
                </a:solidFill>
                <a:latin typeface="Montserrat"/>
              </a:rPr>
              <a:t>Integrasi lintas kanal terhambat arsitektur silo yang lambat dan rentan inkonsistensi data.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86875" y="3600450"/>
            <a:ext cx="8382000" cy="2674620"/>
          </a:xfrm>
          <a:prstGeom prst="rect">
            <a:avLst/>
          </a:prstGeom>
          <a:solidFill>
            <a:srgbClr val="162032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286875" y="3600450"/>
            <a:ext cx="8382000" cy="285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515475" y="3790950"/>
            <a:ext cx="419100" cy="304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15475" y="3829050"/>
            <a:ext cx="419100" cy="266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48875" y="3810000"/>
            <a:ext cx="7429500" cy="333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Montserrat"/>
              </a:rPr>
              <a:t>Beban Operasional Tinggi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15475" y="444"/>
            <a:ext cx="79248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15475" y="4343400"/>
            <a:ext cx="7924800" cy="7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5" b="0">
                <a:solidFill>
                  <a:srgbClr val="94A3B8"/>
                </a:solidFill>
                <a:latin typeface="Montserrat"/>
              </a:rPr>
              <a:t>Proses manual berulang meningkatkan biaya tenaga kerja serta resiko kesalahan manusia.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9125" y="6503670"/>
            <a:ext cx="8382000" cy="2674620"/>
          </a:xfrm>
          <a:prstGeom prst="rect">
            <a:avLst/>
          </a:prstGeom>
          <a:solidFill>
            <a:srgbClr val="162032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9125" y="6503670"/>
            <a:ext cx="8382000" cy="285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7725" y="6694170"/>
            <a:ext cx="419100" cy="304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7725" y="6732270"/>
            <a:ext cx="419100" cy="266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1125" y="6713220"/>
            <a:ext cx="7429500" cy="333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Montserrat"/>
              </a:rPr>
              <a:t>Keterlambatan Siklus Rilis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7725" y="748"/>
            <a:ext cx="79248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7725" y="7246620"/>
            <a:ext cx="7924800" cy="7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5" b="0">
                <a:solidFill>
                  <a:srgbClr val="94A3B8"/>
                </a:solidFill>
                <a:latin typeface="Montserrat"/>
              </a:rPr>
              <a:t>Waktu peluncuran fitur baru membutuhkan hitungan minggu tanpa otomasi validasi data.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86875" y="6503670"/>
            <a:ext cx="8382000" cy="2674620"/>
          </a:xfrm>
          <a:prstGeom prst="rect">
            <a:avLst/>
          </a:prstGeom>
          <a:solidFill>
            <a:srgbClr val="162032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286875" y="6503670"/>
            <a:ext cx="8382000" cy="285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515475" y="6694170"/>
            <a:ext cx="419100" cy="304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15475" y="6732270"/>
            <a:ext cx="419100" cy="266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48875" y="6713220"/>
            <a:ext cx="7429500" cy="333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Montserrat"/>
              </a:rPr>
              <a:t>Keterbatasan Visibilitas Real-Time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15475" y="748"/>
            <a:ext cx="79248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15475" y="7246620"/>
            <a:ext cx="7924800" cy="7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5" b="0">
                <a:solidFill>
                  <a:srgbClr val="94A3B8"/>
                </a:solidFill>
                <a:latin typeface="Montserrat"/>
              </a:rPr>
              <a:t>Pimpinan kekurangan akses dasbor analitik terpadu untuk keputusan strategis cepat.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9125" y="433387"/>
            <a:ext cx="170497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9125" y="585787"/>
            <a:ext cx="381000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EA5E9"/>
                </a:solidFill>
                <a:latin typeface="Montserrat"/>
              </a:rPr>
              <a:t>02 / VALUE PROPOSITION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9125" y="2263140"/>
            <a:ext cx="7412355" cy="1047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Montserrat"/>
              </a:rPr>
              <a:t>Solusi Terintegrasi Berbasis Arsitektur Cerdas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9125" y="4526280"/>
            <a:ext cx="7412355" cy="8572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75" b="0">
                <a:solidFill>
                  <a:srgbClr val="94A3B8"/>
                </a:solidFill>
                <a:latin typeface="Montserrat"/>
              </a:rPr>
              <a:t>Menggabungkan pemrosesan throughput tinggi, keandalan 99.95% uptime, dan orkestrasi otomatis.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125" y="6686550"/>
            <a:ext cx="7412355" cy="514350"/>
          </a:xfrm>
          <a:prstGeom prst="rect">
            <a:avLst/>
          </a:prstGeom>
          <a:solidFill>
            <a:srgbClr val="162032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9125" y="6838950"/>
            <a:ext cx="7412355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0EA5E9"/>
                </a:solidFill>
                <a:latin typeface="Montserrat"/>
              </a:rPr>
              <a:t>REDUKSI BIAYA INFRASTRUKTUR HINGGA 42%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0" y="2057400"/>
            <a:ext cx="9525" cy="66865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793480" y="2263140"/>
            <a:ext cx="8875395" cy="1851660"/>
          </a:xfrm>
          <a:prstGeom prst="rect">
            <a:avLst/>
          </a:prstGeom>
          <a:solidFill>
            <a:srgbClr val="162032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83980" y="2415540"/>
            <a:ext cx="428625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50" b="1">
                <a:solidFill>
                  <a:srgbClr val="10B981"/>
                </a:solidFill>
                <a:latin typeface="Montserrat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7855" y="2415540"/>
            <a:ext cx="797052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75" b="1">
                <a:solidFill>
                  <a:srgbClr val="F8FAFC"/>
                </a:solidFill>
                <a:latin typeface="Montserrat"/>
              </a:rPr>
              <a:t>Skalabilitas Awan Elastis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7855" y="2758440"/>
            <a:ext cx="7970520" cy="571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5" b="0">
                <a:solidFill>
                  <a:srgbClr val="94A3B8"/>
                </a:solidFill>
                <a:latin typeface="Montserrat"/>
              </a:rPr>
              <a:t>Infrastruktur kontainer terdistribusi yang menyesuaikan kapasitas lalu lintas dinamis secara mulus.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93480" y="4526280"/>
            <a:ext cx="8875395" cy="1851660"/>
          </a:xfrm>
          <a:prstGeom prst="rect">
            <a:avLst/>
          </a:prstGeom>
          <a:solidFill>
            <a:srgbClr val="162032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83980" y="4678680"/>
            <a:ext cx="428625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50" b="1">
                <a:solidFill>
                  <a:srgbClr val="10B981"/>
                </a:solidFill>
                <a:latin typeface="Montserrat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7855" y="4678680"/>
            <a:ext cx="797052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75" b="1">
                <a:solidFill>
                  <a:srgbClr val="F8FAFC"/>
                </a:solidFill>
                <a:latin typeface="Montserrat"/>
              </a:rPr>
              <a:t>Enkripsi &amp; Tata Kelola Standar Global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7855" y="5021580"/>
            <a:ext cx="7970520" cy="571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5" b="0">
                <a:solidFill>
                  <a:srgbClr val="94A3B8"/>
                </a:solidFill>
                <a:latin typeface="Montserrat"/>
              </a:rPr>
              <a:t>Protokol perlindungan data berstandar enterprise dengan jejak audit komprehensif.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93480" y="6789420"/>
            <a:ext cx="8875395" cy="1851660"/>
          </a:xfrm>
          <a:prstGeom prst="rect">
            <a:avLst/>
          </a:prstGeom>
          <a:solidFill>
            <a:srgbClr val="162032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83980" y="6941820"/>
            <a:ext cx="428625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50" b="1">
                <a:solidFill>
                  <a:srgbClr val="10B981"/>
                </a:solidFill>
                <a:latin typeface="Montserrat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7855" y="6941820"/>
            <a:ext cx="797052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75" b="1">
                <a:solidFill>
                  <a:srgbClr val="F8FAFC"/>
                </a:solidFill>
                <a:latin typeface="Montserrat"/>
              </a:rPr>
              <a:t>Konektor API Instan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7855" y="7284720"/>
            <a:ext cx="7970520" cy="571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5" b="0">
                <a:solidFill>
                  <a:srgbClr val="94A3B8"/>
                </a:solidFill>
                <a:latin typeface="Montserrat"/>
              </a:rPr>
              <a:t>Integrasi modular yang mudah disematkan pada sistem yang sedang beroperasi tanpa penghentian layanan.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9125" y="433387"/>
            <a:ext cx="170497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9125" y="585787"/>
            <a:ext cx="428625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EA5E9"/>
                </a:solidFill>
                <a:latin typeface="Montserrat"/>
              </a:rPr>
              <a:t>03 / TRACTION &amp; FINANCIAL EFFICIENCY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9125" y="1645920"/>
            <a:ext cx="13716000" cy="666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50" b="1">
                <a:solidFill>
                  <a:srgbClr val="F8FAFC"/>
                </a:solidFill>
                <a:latin typeface="Montserrat"/>
              </a:rPr>
              <a:t>Pertumbuhan Eksponensial &amp; Metrik Kinerja Teruji</a:t>
            </a:r>
          </a:p>
        </p:txBody>
      </p:sp>
      <p:sp>
        <p:nvSpPr>
          <p:cNvPr id="5" name="Rectangle 4"/>
          <p:cNvSpPr/>
          <p:nvPr/>
        </p:nvSpPr>
        <p:spPr>
          <a:xfrm>
            <a:off x="619125" y="3291840"/>
            <a:ext cx="5556250" cy="5349240"/>
          </a:xfrm>
          <a:prstGeom prst="rect">
            <a:avLst/>
          </a:prstGeom>
          <a:solidFill>
            <a:srgbClr val="162032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9125" y="3291840"/>
            <a:ext cx="5556250" cy="476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7725" y="3909060"/>
            <a:ext cx="5099050" cy="7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50" b="1">
                <a:solidFill>
                  <a:srgbClr val="0EA5E9"/>
                </a:solidFill>
                <a:latin typeface="Montserrat"/>
              </a:rPr>
              <a:t>+240%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5452110"/>
            <a:ext cx="509905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8FAFC"/>
                </a:solidFill>
                <a:latin typeface="Montserrat"/>
              </a:rPr>
              <a:t>PERTUMBUHAN TAHUNAN (YoY)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6377940"/>
            <a:ext cx="5099050" cy="8572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5" b="0">
                <a:solidFill>
                  <a:srgbClr val="94A3B8"/>
                </a:solidFill>
                <a:latin typeface="Montserrat"/>
              </a:rPr>
              <a:t>Pertumbuhan pendapatan berulang murni tanpa pembengkakan biaya akuisisi pengguna.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65875" y="3291840"/>
            <a:ext cx="5556250" cy="5349240"/>
          </a:xfrm>
          <a:prstGeom prst="rect">
            <a:avLst/>
          </a:prstGeom>
          <a:solidFill>
            <a:srgbClr val="162032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65875" y="3291840"/>
            <a:ext cx="5556250" cy="476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94475" y="3909060"/>
            <a:ext cx="5099050" cy="7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50" b="1">
                <a:solidFill>
                  <a:srgbClr val="10B981"/>
                </a:solidFill>
                <a:latin typeface="Montserrat"/>
              </a:rPr>
              <a:t>89.4%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4475" y="5452110"/>
            <a:ext cx="509905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8FAFC"/>
                </a:solidFill>
                <a:latin typeface="Montserrat"/>
              </a:rPr>
              <a:t>RETENSI PENGGUNA 12 BULAN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94475" y="6377940"/>
            <a:ext cx="5099050" cy="8572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5" b="0">
                <a:solidFill>
                  <a:srgbClr val="94A3B8"/>
                </a:solidFill>
                <a:latin typeface="Montserrat"/>
              </a:rPr>
              <a:t>Retensi tingkat tinggi berkat ketergantungan workflow harian yang efisien.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112625" y="3291840"/>
            <a:ext cx="5556250" cy="5349240"/>
          </a:xfrm>
          <a:prstGeom prst="rect">
            <a:avLst/>
          </a:prstGeom>
          <a:solidFill>
            <a:srgbClr val="162032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112625" y="3291840"/>
            <a:ext cx="5556250" cy="476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1225" y="3909060"/>
            <a:ext cx="5099050" cy="7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50" b="1">
                <a:solidFill>
                  <a:srgbClr val="0EA5E9"/>
                </a:solidFill>
                <a:latin typeface="Montserrat"/>
              </a:rPr>
              <a:t>Rp 65 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1225" y="5452110"/>
            <a:ext cx="509905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8FAFC"/>
                </a:solidFill>
                <a:latin typeface="Montserrat"/>
              </a:rPr>
              <a:t>TOTAL VOLUME TRANSAKSI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1225" y="6377940"/>
            <a:ext cx="5099050" cy="8572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5" b="0">
                <a:solidFill>
                  <a:srgbClr val="94A3B8"/>
                </a:solidFill>
                <a:latin typeface="Montserrat"/>
              </a:rPr>
              <a:t>Volume transaksi bruto yang telah diproses secara aman dalam periode pelaporan.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9125" y="433387"/>
            <a:ext cx="170497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9125" y="585787"/>
            <a:ext cx="428625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10B981"/>
                </a:solidFill>
                <a:latin typeface="Montserrat"/>
              </a:rPr>
              <a:t>04 / STRATEGIC INVESTMENT &amp; PARTNERSHIP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9125" y="2263140"/>
            <a:ext cx="11887200" cy="7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8FAFC"/>
                </a:solidFill>
                <a:latin typeface="Montserrat"/>
              </a:rPr>
              <a:t>Membangun Ekosistem Bersama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9125" y="3703320"/>
            <a:ext cx="13167359" cy="571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94A3B8"/>
                </a:solidFill>
                <a:latin typeface="Montserrat"/>
              </a:rPr>
              <a:t>Alokasi Rencana Pendanaan: 45% Riset &amp; Rekayasa Produk · 35% Ekspansi Penetrasi Pasar · 20% Cadangan Operasional.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125" y="5554980"/>
            <a:ext cx="17049750" cy="3291840"/>
          </a:xfrm>
          <a:prstGeom prst="rect">
            <a:avLst/>
          </a:prstGeom>
          <a:solidFill>
            <a:srgbClr val="162032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925" y="5966460"/>
            <a:ext cx="3810000" cy="2476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EA5E9"/>
                </a:solidFill>
                <a:latin typeface="Montserrat"/>
              </a:rPr>
              <a:t>KANTOR PUSAT &amp; JALUR KEMITRAAN RESMI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6583680"/>
            <a:ext cx="8229600" cy="571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8FAFC"/>
                </a:solidFill>
                <a:latin typeface="Montserrat"/>
              </a:rPr>
              <a:t>Konsorsium Ekosistem Cipta Digital Nusantara</a:t>
            </a:r>
          </a:p>
          <a:p>
            <a:pPr algn="l"/>
            <a:r>
              <a:rPr sz="1350" b="1">
                <a:solidFill>
                  <a:srgbClr val="F8FAFC"/>
                </a:solidFill>
                <a:latin typeface="Montserrat"/>
              </a:rPr>
              <a:t>Surat Elektronik: kemitraan@digitalnusantara.id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7818120"/>
            <a:ext cx="822960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75" b="0">
                <a:solidFill>
                  <a:srgbClr val="94A3B8"/>
                </a:solidFill>
                <a:latin typeface="Montserrat"/>
              </a:rPr>
              <a:t>Dokumen ini disiapkan khusus untuk mitra strategis dan dilindungi kerahasiaan korporasi.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430375" y="6583680"/>
            <a:ext cx="2857500" cy="5334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430375" y="6736080"/>
            <a:ext cx="2857500" cy="285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75" b="1">
                <a:solidFill>
                  <a:srgbClr val="FFFFFF"/>
                </a:solidFill>
                <a:latin typeface="Montserrat"/>
              </a:rPr>
              <a:t>JADWALKAN DISKUSI STRATEGIS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