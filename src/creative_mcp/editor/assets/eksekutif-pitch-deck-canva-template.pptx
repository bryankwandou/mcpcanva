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19125" y="433387"/>
            <a:ext cx="1704975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9125" y="585787"/>
            <a:ext cx="8524875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1">
                <a:solidFill>
                  <a:srgbClr val="FFD400"/>
                </a:solidFill>
                <a:latin typeface="Montserrat"/>
              </a:rPr>
              <a:t>VENTURE PITCH DECK //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35125" y="585787"/>
            <a:ext cx="333375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4A3B8"/>
                </a:solidFill>
                <a:latin typeface="Montserrat"/>
              </a:rPr>
              <a:t>CONFIDENTIAL &amp; PROPRIETARY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125" y="2880360"/>
            <a:ext cx="11887200" cy="1714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900" b="1">
                <a:solidFill>
                  <a:srgbClr val="F8FAFC"/>
                </a:solidFill>
                <a:latin typeface="Montserrat"/>
              </a:rPr>
              <a:t>Platform Ekosistem Digital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125" y="5657850"/>
            <a:ext cx="38100" cy="1047750"/>
          </a:xfrm>
          <a:prstGeom prst="rect">
            <a:avLst/>
          </a:prstGeom>
          <a:solidFill>
            <a:srgbClr val="FFD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7725" y="5657850"/>
            <a:ext cx="10607040" cy="1047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Montserrat"/>
              </a:rPr>
              <a:t>Arsitektur Cloud Skalabel dan Solusi Otomasi Korporat Terintegrasi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125" y="9096375"/>
            <a:ext cx="170497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125" y="9286875"/>
            <a:ext cx="914400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0">
                <a:solidFill>
                  <a:srgbClr val="94A3B8"/>
                </a:solidFill>
                <a:latin typeface="Montserrat"/>
              </a:rPr>
              <a:t>Direktorat Strategi &amp; Kemitraan Korporat ·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82875" y="9191625"/>
            <a:ext cx="2286000" cy="419100"/>
          </a:xfrm>
          <a:prstGeom prst="rect">
            <a:avLst/>
          </a:prstGeom>
          <a:solidFill>
            <a:srgbClr val="FFD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382875" y="9267825"/>
            <a:ext cx="228600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75" b="1">
                <a:solidFill>
                  <a:srgbClr val="FFFFFF"/>
                </a:solidFill>
                <a:latin typeface="Montserrat"/>
              </a:rPr>
              <a:t>PITCH PROPOSAL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19125" y="433387"/>
            <a:ext cx="170497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9125" y="585787"/>
            <a:ext cx="381000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FF3B30"/>
                </a:solidFill>
                <a:latin typeface="Montserrat"/>
              </a:rPr>
              <a:t>01 / MARKET PAIN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125" y="1645920"/>
            <a:ext cx="13716000" cy="666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50" b="1">
                <a:solidFill>
                  <a:srgbClr val="F8FAFC"/>
                </a:solidFill>
                <a:latin typeface="Montserrat"/>
              </a:rPr>
              <a:t>Inefisiensi Struktural yang Dihadapi Industri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125" y="2468880"/>
            <a:ext cx="12801600" cy="4286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75" b="0">
                <a:solidFill>
                  <a:srgbClr val="94A3B8"/>
                </a:solidFill>
                <a:latin typeface="Montserrat"/>
              </a:rPr>
              <a:t>Kesenjangan tajam antara tuntutan kecepatan pasar dan infrastruktur warisan yang berjalan saat ini.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125" y="3600450"/>
            <a:ext cx="8382000" cy="2674620"/>
          </a:xfrm>
          <a:prstGeom prst="rect">
            <a:avLst/>
          </a:prstGeom>
          <a:noFill/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7725" y="3790950"/>
            <a:ext cx="476250" cy="333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>
                <a:solidFill>
                  <a:srgbClr val="FFD400"/>
                </a:solidFill>
                <a:latin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1125" y="3790950"/>
            <a:ext cx="7429500" cy="333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Montserrat"/>
              </a:rPr>
              <a:t>Fragmentasi Sistem Warisan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7725" y="4191000"/>
            <a:ext cx="79248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7725" y="4305300"/>
            <a:ext cx="79248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0">
                <a:solidFill>
                  <a:srgbClr val="94A3B8"/>
                </a:solidFill>
                <a:latin typeface="Montserrat"/>
              </a:rPr>
              <a:t>Integrasi lintas kanal terhambat arsitektur silo yang lambat dan rentan inkonsistensi data.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86875" y="3600450"/>
            <a:ext cx="8382000" cy="2674620"/>
          </a:xfrm>
          <a:prstGeom prst="rect">
            <a:avLst/>
          </a:prstGeom>
          <a:noFill/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15475" y="3790950"/>
            <a:ext cx="476250" cy="333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>
                <a:solidFill>
                  <a:srgbClr val="FFD400"/>
                </a:solidFill>
                <a:latin typeface="Montserra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8875" y="3790950"/>
            <a:ext cx="7429500" cy="333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Montserrat"/>
              </a:rPr>
              <a:t>Beban Operasional Tinggi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15475" y="4191000"/>
            <a:ext cx="79248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5475" y="4305300"/>
            <a:ext cx="79248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0">
                <a:solidFill>
                  <a:srgbClr val="94A3B8"/>
                </a:solidFill>
                <a:latin typeface="Montserrat"/>
              </a:rPr>
              <a:t>Proses manual berulang meningkatkan biaya tenaga kerja serta resiko kesalahan manusia.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125" y="6503670"/>
            <a:ext cx="8382000" cy="2674620"/>
          </a:xfrm>
          <a:prstGeom prst="rect">
            <a:avLst/>
          </a:prstGeom>
          <a:noFill/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725" y="6694170"/>
            <a:ext cx="476250" cy="333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>
                <a:solidFill>
                  <a:srgbClr val="FFD400"/>
                </a:solidFill>
                <a:latin typeface="Montserra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1125" y="6694170"/>
            <a:ext cx="7429500" cy="333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Montserrat"/>
              </a:rPr>
              <a:t>Keterlambatan Siklus Rilis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7725" y="7094220"/>
            <a:ext cx="79248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7725" y="7208520"/>
            <a:ext cx="79248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0">
                <a:solidFill>
                  <a:srgbClr val="94A3B8"/>
                </a:solidFill>
                <a:latin typeface="Montserrat"/>
              </a:rPr>
              <a:t>Waktu peluncuran fitur baru membutuhkan hitungan minggu tanpa otomasi validasi data.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6875" y="6503670"/>
            <a:ext cx="8382000" cy="2674620"/>
          </a:xfrm>
          <a:prstGeom prst="rect">
            <a:avLst/>
          </a:prstGeom>
          <a:noFill/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15475" y="6694170"/>
            <a:ext cx="476250" cy="333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>
                <a:solidFill>
                  <a:srgbClr val="FFD400"/>
                </a:solidFill>
                <a:latin typeface="Montserrat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8875" y="6694170"/>
            <a:ext cx="7429500" cy="333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Montserrat"/>
              </a:rPr>
              <a:t>Keterbatasan Visibilitas Real-Time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15475" y="7094220"/>
            <a:ext cx="79248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15475" y="7208520"/>
            <a:ext cx="79248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0">
                <a:solidFill>
                  <a:srgbClr val="94A3B8"/>
                </a:solidFill>
                <a:latin typeface="Montserrat"/>
              </a:rPr>
              <a:t>Pimpinan kekurangan akses dasbor analitik terpadu untuk keputusan strategis cepat.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19125" y="433387"/>
            <a:ext cx="170497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9125" y="585787"/>
            <a:ext cx="381000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FFD400"/>
                </a:solidFill>
                <a:latin typeface="Montserrat"/>
              </a:rPr>
              <a:t>02 /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125" y="2263140"/>
            <a:ext cx="7412355" cy="1047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Montserrat"/>
              </a:rPr>
              <a:t>Solusi Terintegrasi Berbasis Arsitektur Cerdas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125" y="4526280"/>
            <a:ext cx="7412355" cy="857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75" b="0">
                <a:solidFill>
                  <a:srgbClr val="94A3B8"/>
                </a:solidFill>
                <a:latin typeface="Montserrat"/>
              </a:rPr>
              <a:t>Menggabungkan pemrosesan throughput tinggi, keandalan 99.95% uptime, dan orkestrasi otomatis.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125" y="6686550"/>
            <a:ext cx="7412355" cy="514350"/>
          </a:xfrm>
          <a:prstGeom prst="rect">
            <a:avLst/>
          </a:prstGeom>
          <a:noFill/>
          <a:ln w="19050">
            <a:solidFill>
              <a:srgbClr val="FFD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9125" y="6838950"/>
            <a:ext cx="7412355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FFD400"/>
                </a:solidFill>
                <a:latin typeface="Montserrat"/>
              </a:rPr>
              <a:t>REDUKSI BIAYA INFRASTRUKTUR HINGGA 42%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0" y="2057400"/>
            <a:ext cx="9525" cy="66865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3480" y="2263140"/>
            <a:ext cx="428625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>
                <a:solidFill>
                  <a:srgbClr val="FF3B30"/>
                </a:solidFill>
                <a:latin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17355" y="2263140"/>
            <a:ext cx="835152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75" b="1">
                <a:solidFill>
                  <a:srgbClr val="F8FAFC"/>
                </a:solidFill>
                <a:latin typeface="Montserrat"/>
              </a:rPr>
              <a:t>Skalabilitas Awan Elastis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7355" y="2625090"/>
            <a:ext cx="835152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0">
                <a:solidFill>
                  <a:srgbClr val="94A3B8"/>
                </a:solidFill>
                <a:latin typeface="Montserrat"/>
              </a:rPr>
              <a:t>Infrastruktur kontainer terdistribusi yang menyesuaikan kapasitas lalu lintas dinamis secara mulus.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93480" y="3263265"/>
            <a:ext cx="887539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93480" y="4526280"/>
            <a:ext cx="428625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>
                <a:solidFill>
                  <a:srgbClr val="FF3B30"/>
                </a:solidFill>
                <a:latin typeface="Montserra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17355" y="4526280"/>
            <a:ext cx="835152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75" b="1">
                <a:solidFill>
                  <a:srgbClr val="F8FAFC"/>
                </a:solidFill>
                <a:latin typeface="Montserrat"/>
              </a:rPr>
              <a:t>Enkripsi &amp; Tata Kelola Standar Global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17355" y="4888230"/>
            <a:ext cx="835152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0">
                <a:solidFill>
                  <a:srgbClr val="94A3B8"/>
                </a:solidFill>
                <a:latin typeface="Montserrat"/>
              </a:rPr>
              <a:t>Protokol perlindungan data berstandar enterprise dengan jejak audit komprehensif.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93480" y="5526405"/>
            <a:ext cx="887539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93480" y="6789420"/>
            <a:ext cx="428625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>
                <a:solidFill>
                  <a:srgbClr val="FF3B30"/>
                </a:solidFill>
                <a:latin typeface="Montserra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7355" y="6789420"/>
            <a:ext cx="835152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75" b="1">
                <a:solidFill>
                  <a:srgbClr val="F8FAFC"/>
                </a:solidFill>
                <a:latin typeface="Montserrat"/>
              </a:rPr>
              <a:t>Konektor API Instan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355" y="7151370"/>
            <a:ext cx="835152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0">
                <a:solidFill>
                  <a:srgbClr val="94A3B8"/>
                </a:solidFill>
                <a:latin typeface="Montserrat"/>
              </a:rPr>
              <a:t>Integrasi modular yang mudah disematkan pada sistem yang sedang beroperasi tanpa penghentian layanan.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93480" y="7789545"/>
            <a:ext cx="887539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19125" y="433387"/>
            <a:ext cx="170497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9125" y="585787"/>
            <a:ext cx="428625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FFD400"/>
                </a:solidFill>
                <a:latin typeface="Montserrat"/>
              </a:rPr>
              <a:t>03 / TRACTION &amp; FINANCIAL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125" y="1645920"/>
            <a:ext cx="13716000" cy="666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50" b="1">
                <a:solidFill>
                  <a:srgbClr val="F8FAFC"/>
                </a:solidFill>
                <a:latin typeface="Montserrat"/>
              </a:rPr>
              <a:t>Pertumbuhan Eksponensial &amp; Metrik Kinerja Teruji</a:t>
            </a:r>
          </a:p>
        </p:txBody>
      </p:sp>
      <p:sp>
        <p:nvSpPr>
          <p:cNvPr id="5" name="Rectangle 4"/>
          <p:cNvSpPr/>
          <p:nvPr/>
        </p:nvSpPr>
        <p:spPr>
          <a:xfrm>
            <a:off x="619125" y="3291840"/>
            <a:ext cx="5556250" cy="5349240"/>
          </a:xfrm>
          <a:prstGeom prst="rect">
            <a:avLst/>
          </a:prstGeom>
          <a:noFill/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9125" y="3291840"/>
            <a:ext cx="5556250" cy="38100"/>
          </a:xfrm>
          <a:prstGeom prst="rect">
            <a:avLst/>
          </a:prstGeom>
          <a:solidFill>
            <a:srgbClr val="FFD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7725" y="3909060"/>
            <a:ext cx="509905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900" b="1">
                <a:solidFill>
                  <a:srgbClr val="FFD400"/>
                </a:solidFill>
                <a:latin typeface="Montserrat"/>
              </a:rPr>
              <a:t>+240%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725" y="5452110"/>
            <a:ext cx="509905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F8FAFC"/>
                </a:solidFill>
                <a:latin typeface="Montserrat"/>
              </a:rPr>
              <a:t>PERTUMBUHAN TAHUNAN (YoY)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6377940"/>
            <a:ext cx="5099050" cy="857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0">
                <a:solidFill>
                  <a:srgbClr val="94A3B8"/>
                </a:solidFill>
                <a:latin typeface="Montserrat"/>
              </a:rPr>
              <a:t>Pertumbuhan pendapatan berulang murni tanpa pembengkakan biaya akuisisi pengguna.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5875" y="3291840"/>
            <a:ext cx="5556250" cy="5349240"/>
          </a:xfrm>
          <a:prstGeom prst="rect">
            <a:avLst/>
          </a:prstGeom>
          <a:noFill/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5875" y="3291840"/>
            <a:ext cx="5556250" cy="38100"/>
          </a:xfrm>
          <a:prstGeom prst="rect">
            <a:avLst/>
          </a:prstGeom>
          <a:solidFill>
            <a:srgbClr val="FFD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4475" y="3909060"/>
            <a:ext cx="509905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900" b="1">
                <a:solidFill>
                  <a:srgbClr val="FFD400"/>
                </a:solidFill>
                <a:latin typeface="Montserrat"/>
              </a:rPr>
              <a:t>89.4%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4475" y="5452110"/>
            <a:ext cx="509905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F8FAFC"/>
                </a:solidFill>
                <a:latin typeface="Montserrat"/>
              </a:rPr>
              <a:t>RETENSI PENGGUNA 12 BULAN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4475" y="6377940"/>
            <a:ext cx="5099050" cy="857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0">
                <a:solidFill>
                  <a:srgbClr val="94A3B8"/>
                </a:solidFill>
                <a:latin typeface="Montserrat"/>
              </a:rPr>
              <a:t>Retensi tingkat tinggi berkat ketergantungan workflow harian yang efisien.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112625" y="3291840"/>
            <a:ext cx="5556250" cy="5349240"/>
          </a:xfrm>
          <a:prstGeom prst="rect">
            <a:avLst/>
          </a:prstGeom>
          <a:noFill/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112625" y="3291840"/>
            <a:ext cx="5556250" cy="38100"/>
          </a:xfrm>
          <a:prstGeom prst="rect">
            <a:avLst/>
          </a:prstGeom>
          <a:solidFill>
            <a:srgbClr val="FFD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1225" y="3909060"/>
            <a:ext cx="509905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900" b="1">
                <a:solidFill>
                  <a:srgbClr val="FFD400"/>
                </a:solidFill>
                <a:latin typeface="Montserrat"/>
              </a:rPr>
              <a:t>Rp 65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1225" y="5452110"/>
            <a:ext cx="509905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F8FAFC"/>
                </a:solidFill>
                <a:latin typeface="Montserrat"/>
              </a:rPr>
              <a:t>TOTAL VOLUME TRANSAKSI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1225" y="6377940"/>
            <a:ext cx="5099050" cy="857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0">
                <a:solidFill>
                  <a:srgbClr val="94A3B8"/>
                </a:solidFill>
                <a:latin typeface="Montserrat"/>
              </a:rPr>
              <a:t>Volume transaksi bruto yang telah diproses secara aman dalam periode pelaporan.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19125" y="433387"/>
            <a:ext cx="170497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9125" y="585787"/>
            <a:ext cx="428625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FF3B30"/>
                </a:solidFill>
                <a:latin typeface="Montserrat"/>
              </a:rPr>
              <a:t>04 / STRATEGIC INVESTMENT &amp; PARTNERSHIP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125" y="2263140"/>
            <a:ext cx="118872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Montserrat"/>
              </a:rPr>
              <a:t>Membangun Ekosistem Bersama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125" y="3703320"/>
            <a:ext cx="1316735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94A3B8"/>
                </a:solidFill>
                <a:latin typeface="Montserrat"/>
              </a:rPr>
              <a:t>Alokasi Rencana Pendanaan: 45% Riset &amp; Rekayasa Produk · 35% Ekspansi Penetrasi Pasar · 20% Cadangan Operasional.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125" y="5349240"/>
            <a:ext cx="170497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9125" y="5966460"/>
            <a:ext cx="3810000" cy="2476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FFD400"/>
                </a:solidFill>
                <a:latin typeface="Montserrat"/>
              </a:rPr>
              <a:t>KANTOR PUSAT &amp; JALUR KEMITRAAN RESMI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125" y="6583680"/>
            <a:ext cx="822960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8FAFC"/>
                </a:solidFill>
                <a:latin typeface="Montserrat"/>
              </a:rPr>
              <a:t>Konsorsium Ekosistem Cipta Digital Nusantara</a:t>
            </a:r>
          </a:p>
          <a:p>
            <a:pPr algn="l"/>
            <a:r>
              <a:rPr sz="1350" b="1">
                <a:solidFill>
                  <a:srgbClr val="F8FAFC"/>
                </a:solidFill>
                <a:latin typeface="Montserrat"/>
              </a:rPr>
              <a:t>Surat Elektronik: kemitraan@digitalnusantara.id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125" y="7715250"/>
            <a:ext cx="822960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5" b="0">
                <a:solidFill>
                  <a:srgbClr val="94A3B8"/>
                </a:solidFill>
                <a:latin typeface="Montserrat"/>
              </a:rPr>
              <a:t>Dokumen ini disiapkan khusus untuk mitra strategis dan dilindungi kerahasiaan korporasi.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20875" y="6480810"/>
            <a:ext cx="3048000" cy="533400"/>
          </a:xfrm>
          <a:prstGeom prst="rect">
            <a:avLst/>
          </a:prstGeom>
          <a:solidFill>
            <a:srgbClr val="FFD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20875" y="6633210"/>
            <a:ext cx="304800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75" b="1">
                <a:solidFill>
                  <a:srgbClr val="FFFFFF"/>
                </a:solidFill>
                <a:latin typeface="Montserrat"/>
              </a:rPr>
              <a:t>JADWALKAN DISKUSI STRATEGIS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