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1">
                <a:solidFill>
                  <a:srgbClr val="0EA5E9"/>
                </a:solidFill>
                <a:latin typeface="Montserrat"/>
              </a:rPr>
              <a:t>VENTURE PITCH DECK //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35125" y="585787"/>
            <a:ext cx="33337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Montserrat"/>
              </a:rPr>
              <a:t>CONFIDENTIAL &amp; PROPRIETARY</a:t>
            </a:r>
          </a:p>
        </p:txBody>
      </p:sp>
      <p:pic>
        <p:nvPicPr>
          <p:cNvPr id="5" name="Picture 4" descr="executive_hero.jpg"/>
          <p:cNvPicPr>
            <a:picLocks noChangeAspect="1"/>
          </p:cNvPicPr>
          <p:nvPr/>
        </p:nvPicPr>
        <p:blipFill>
          <a:blip r:embed="rId2"/>
          <a:srcRect l="17536" r="17536"/>
          <a:stretch>
            <a:fillRect/>
          </a:stretch>
        </p:blipFill>
        <p:spPr>
          <a:xfrm>
            <a:off x="9770745" y="2263140"/>
            <a:ext cx="7898129" cy="67894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770745" y="2263140"/>
            <a:ext cx="7898129" cy="6789420"/>
          </a:xfrm>
          <a:prstGeom prst="rect">
            <a:avLst/>
          </a:prstGeom>
          <a:noFill/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61245" y="8442960"/>
            <a:ext cx="2476500" cy="419100"/>
          </a:xfrm>
          <a:prstGeom prst="rect">
            <a:avLst/>
          </a:prstGeom>
          <a:solidFill>
            <a:srgbClr val="0A0E17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1245" y="8519160"/>
            <a:ext cx="24765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0EA5E9"/>
                </a:solidFill>
                <a:latin typeface="Montserrat"/>
              </a:rPr>
              <a:t>SERI A // Rp 50 MILIAR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2571750"/>
            <a:ext cx="8675370" cy="190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Montserrat"/>
              </a:rPr>
              <a:t>EKOSISTEM DIGITAL NUSANTARA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125" y="5657850"/>
            <a:ext cx="38100" cy="10477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725" y="5657850"/>
            <a:ext cx="8446770" cy="1047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Montserrat"/>
              </a:rPr>
              <a:t>Arsitektur Platform Skalabel dengan Keamanan Mutakhir dan Efisiensi Operasional Teruji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125" y="9096375"/>
            <a:ext cx="88658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125" y="9286875"/>
            <a:ext cx="677037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Direktorat Strategi &amp; Kemitraan Korporat ·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79995" y="9191625"/>
            <a:ext cx="1905000" cy="419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9995" y="9267825"/>
            <a:ext cx="1905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Montserrat"/>
              </a:rPr>
              <a:t>PITCH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Montserrat"/>
              </a:rPr>
              <a:t>01 / MARKET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1645920"/>
            <a:ext cx="13716000" cy="666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50" b="1">
                <a:solidFill>
                  <a:srgbClr val="F8FAFC"/>
                </a:solidFill>
                <a:latin typeface="Montserrat"/>
              </a:rPr>
              <a:t>Inefisiensi Struktural yang Dihadapi Industri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2468880"/>
            <a:ext cx="12801600" cy="4286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5" b="0">
                <a:solidFill>
                  <a:srgbClr val="94A3B8"/>
                </a:solidFill>
                <a:latin typeface="Montserrat"/>
              </a:rPr>
              <a:t>Kesenjangan tajam antara tuntutan kecepatan pasar dan infrastruktur warisan yang berjalan saat ini.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360045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" y="3600450"/>
            <a:ext cx="8382000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7725" y="3790950"/>
            <a:ext cx="419100" cy="30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725" y="382905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125" y="381000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Fragmentasi Sistem Warisan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7725" y="444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725" y="434340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Integrasi lintas kanal terhambat arsitektur silo yang lambat dan rentan inkonsistensi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6875" y="360045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6875" y="3600450"/>
            <a:ext cx="8382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15475" y="3790950"/>
            <a:ext cx="419100" cy="30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5475" y="382905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8875" y="381000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Beban Operasional Tinggi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15475" y="444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5475" y="434340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Proses manual berulang meningkatkan biaya tenaga kerja serta resiko kesalahan manusia.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125" y="650367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125" y="6503670"/>
            <a:ext cx="8382000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7725" y="6694170"/>
            <a:ext cx="419100" cy="30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725" y="673227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1125" y="671322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Keterlambatan Siklus Rilis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7725" y="748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725" y="724662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Waktu peluncuran fitur baru membutuhkan hitungan minggu tanpa otomasi validasi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6875" y="650367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6875" y="6503670"/>
            <a:ext cx="8382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15475" y="6694170"/>
            <a:ext cx="419100" cy="30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5475" y="673227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8875" y="671322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Keterbatasan Visibilitas Real-Time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15475" y="748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15475" y="724662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Pimpinan kekurangan akses dasbor analitik terpadu untuk keputusan strategis cepat.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EA5E9"/>
                </a:solidFill>
                <a:latin typeface="Montserrat"/>
              </a:rPr>
              <a:t>02 /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2263140"/>
            <a:ext cx="7412355" cy="1047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Montserrat"/>
              </a:rPr>
              <a:t>Solusi Terintegrasi Berbasis Arsitektur Cerdas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4526280"/>
            <a:ext cx="7412355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5" b="0">
                <a:solidFill>
                  <a:srgbClr val="94A3B8"/>
                </a:solidFill>
                <a:latin typeface="Montserrat"/>
              </a:rPr>
              <a:t>Menggabungkan pemrosesan throughput tinggi, keandalan 99.95% uptime, dan orkestrasi otomatis.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6686550"/>
            <a:ext cx="7412355" cy="514350"/>
          </a:xfrm>
          <a:prstGeom prst="rect">
            <a:avLst/>
          </a:prstGeom>
          <a:solidFill>
            <a:srgbClr val="162032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125" y="6838950"/>
            <a:ext cx="741235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EA5E9"/>
                </a:solidFill>
                <a:latin typeface="Montserrat"/>
              </a:rPr>
              <a:t>REDUKSI BIAYA INFRASTRUKTUR HINGGA 42%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2057400"/>
            <a:ext cx="9525" cy="66865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93480" y="2263140"/>
            <a:ext cx="8875395" cy="18516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3980" y="2415540"/>
            <a:ext cx="42862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F59E0B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7855" y="2415540"/>
            <a:ext cx="797052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75" b="1">
                <a:solidFill>
                  <a:srgbClr val="F8FAFC"/>
                </a:solidFill>
                <a:latin typeface="Montserrat"/>
              </a:rPr>
              <a:t>Skalabilitas Awan Elastis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7855" y="2758440"/>
            <a:ext cx="797052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Infrastruktur kontainer terdistribusi yang menyesuaikan kapasitas lalu lintas dinamis secara mulus.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93480" y="4526280"/>
            <a:ext cx="8875395" cy="18516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3980" y="4678680"/>
            <a:ext cx="42862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F59E0B"/>
                </a:solidFill>
                <a:latin typeface="Montserra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7855" y="4678680"/>
            <a:ext cx="797052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75" b="1">
                <a:solidFill>
                  <a:srgbClr val="F8FAFC"/>
                </a:solidFill>
                <a:latin typeface="Montserrat"/>
              </a:rPr>
              <a:t>Enkripsi &amp; Tata Kelola Standar Global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7855" y="5021580"/>
            <a:ext cx="797052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Protokol perlindungan data berstandar enterprise dengan jejak audit komprehensif.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93480" y="6789420"/>
            <a:ext cx="8875395" cy="18516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3980" y="6941820"/>
            <a:ext cx="42862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F59E0B"/>
                </a:solidFill>
                <a:latin typeface="Montserra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7855" y="6941820"/>
            <a:ext cx="797052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75" b="1">
                <a:solidFill>
                  <a:srgbClr val="F8FAFC"/>
                </a:solidFill>
                <a:latin typeface="Montserrat"/>
              </a:rPr>
              <a:t>Konektor API Instan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7855" y="7284720"/>
            <a:ext cx="797052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Integrasi modular yang mudah disematkan pada sistem yang sedang beroperasi tanpa penghentian layanan.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42862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EA5E9"/>
                </a:solidFill>
                <a:latin typeface="Montserrat"/>
              </a:rPr>
              <a:t>03 / TRACTION &amp; FINANCIAL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1645920"/>
            <a:ext cx="13716000" cy="666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50" b="1">
                <a:solidFill>
                  <a:srgbClr val="F8FAFC"/>
                </a:solidFill>
                <a:latin typeface="Montserrat"/>
              </a:rPr>
              <a:t>Pertumbuhan Eksponensial &amp; Metrik Kinerja Teruji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" y="3291840"/>
            <a:ext cx="5556250" cy="53492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125" y="3291840"/>
            <a:ext cx="555625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7725" y="3909060"/>
            <a:ext cx="509905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50" b="1">
                <a:solidFill>
                  <a:srgbClr val="0EA5E9"/>
                </a:solidFill>
                <a:latin typeface="Montserrat"/>
              </a:rPr>
              <a:t>+240%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5452110"/>
            <a:ext cx="50990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Montserrat"/>
              </a:rPr>
              <a:t>PERTUMBUHAN TAHUNAN (YoY)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6377940"/>
            <a:ext cx="509905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Pertumbuhan pendapatan berulang murni tanpa pembengkakan biaya akuisisi pengguna.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5875" y="3291840"/>
            <a:ext cx="5556250" cy="53492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65875" y="3291840"/>
            <a:ext cx="5556250" cy="476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4475" y="3909060"/>
            <a:ext cx="509905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50" b="1">
                <a:solidFill>
                  <a:srgbClr val="F59E0B"/>
                </a:solidFill>
                <a:latin typeface="Montserrat"/>
              </a:rPr>
              <a:t>89.4%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4475" y="5452110"/>
            <a:ext cx="50990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Montserrat"/>
              </a:rPr>
              <a:t>RETENSI PENGGUNA 12 BULAN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4475" y="6377940"/>
            <a:ext cx="509905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Retensi tingkat tinggi berkat ketergantungan workflow harian yang efisien.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12625" y="3291840"/>
            <a:ext cx="5556250" cy="53492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112625" y="3291840"/>
            <a:ext cx="555625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1225" y="3909060"/>
            <a:ext cx="509905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50" b="1">
                <a:solidFill>
                  <a:srgbClr val="0EA5E9"/>
                </a:solidFill>
                <a:latin typeface="Montserrat"/>
              </a:rPr>
              <a:t>Rp 65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1225" y="5452110"/>
            <a:ext cx="50990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Montserrat"/>
              </a:rPr>
              <a:t>TOTAL VOLUME TRANSAKSI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1225" y="6377940"/>
            <a:ext cx="509905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Volume transaksi bruto yang telah diproses secara aman dalam periode pelaporan.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42862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Montserrat"/>
              </a:rPr>
              <a:t>04 / STRATEGIC INVESTMENT &amp;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2263140"/>
            <a:ext cx="118872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Montserrat"/>
              </a:rPr>
              <a:t>Membangun Ekosistem Bersama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3703320"/>
            <a:ext cx="13167359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94A3B8"/>
                </a:solidFill>
                <a:latin typeface="Montserrat"/>
              </a:rPr>
              <a:t>Alokasi Rencana Pendanaan: 45% Riset &amp; Rekayasa Produk · 35% Ekspansi Penetrasi Pasar · 20% Cadangan Operasional.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5554980"/>
            <a:ext cx="17049750" cy="32918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925" y="5966460"/>
            <a:ext cx="3810000" cy="2476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EA5E9"/>
                </a:solidFill>
                <a:latin typeface="Montserrat"/>
              </a:rPr>
              <a:t>KANTOR PUSAT &amp; JALUR KEMITRAAN RESMI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6583680"/>
            <a:ext cx="822960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Montserrat"/>
              </a:rPr>
              <a:t>Konsorsium Ekosistem Cipta Digital Nusantara</a:t>
            </a:r>
          </a:p>
          <a:p>
            <a:pPr algn="l"/>
            <a:r>
              <a:rPr sz="1350" b="1">
                <a:solidFill>
                  <a:srgbClr val="F8FAFC"/>
                </a:solidFill>
                <a:latin typeface="Montserrat"/>
              </a:rPr>
              <a:t>Surat Elektronik: kemitraan@digitalnusantara.id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7818120"/>
            <a:ext cx="82296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75" b="0">
                <a:solidFill>
                  <a:srgbClr val="94A3B8"/>
                </a:solidFill>
                <a:latin typeface="Montserrat"/>
              </a:rPr>
              <a:t>Dokumen ini disiapkan khusus untuk mitra strategis dan dilindungi kerahasiaan korporasi.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30375" y="6583680"/>
            <a:ext cx="2857500" cy="533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30375" y="6736080"/>
            <a:ext cx="28575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Montserrat"/>
              </a:rPr>
              <a:t>JADWALKAN DISKUSI STRATEGIS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