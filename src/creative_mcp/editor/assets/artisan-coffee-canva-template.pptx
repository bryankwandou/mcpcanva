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D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28625"/>
            <a:ext cx="9048750" cy="9525"/>
          </a:xfrm>
          <a:prstGeom prst="rect">
            <a:avLst/>
          </a:prstGeom>
          <a:solidFill>
            <a:srgbClr val="3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23875"/>
            <a:ext cx="542925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4A373"/>
                </a:solidFill>
                <a:latin typeface="Montserrat"/>
              </a:rPr>
              <a:t>SPECIALTY ROASTERY &amp; ESPRESSO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62875" y="523875"/>
            <a:ext cx="19050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25" b="0">
                <a:solidFill>
                  <a:srgbClr val="9E8E80"/>
                </a:solidFill>
                <a:latin typeface="Montserrat"/>
              </a:rPr>
              <a:t>EST. 2026 // EDITION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933450"/>
            <a:ext cx="9048750" cy="9048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50" b="1">
                <a:solidFill>
                  <a:srgbClr val="FDFBF7"/>
                </a:solidFill>
                <a:latin typeface="Montserrat"/>
              </a:rPr>
              <a:t>Artisan Coffee Masterpiece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" y="1885950"/>
            <a:ext cx="9048750" cy="4286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BDB0"/>
                </a:solidFill>
                <a:latin typeface="Montserrat"/>
              </a:rPr>
              <a:t>Racikan Biji Kopi Arabica Pilihan dengan Aroma Autentik &amp; Tekstur Lembut</a:t>
            </a:r>
          </a:p>
        </p:txBody>
      </p:sp>
      <p:pic>
        <p:nvPicPr>
          <p:cNvPr id="7" name="Picture 6" descr="artisan_coffee.jpg"/>
          <p:cNvPicPr>
            <a:picLocks noChangeAspect="1"/>
          </p:cNvPicPr>
          <p:nvPr/>
        </p:nvPicPr>
        <p:blipFill>
          <a:blip r:embed="rId2"/>
          <a:srcRect t="18985" b="18985"/>
          <a:stretch>
            <a:fillRect/>
          </a:stretch>
        </p:blipFill>
        <p:spPr>
          <a:xfrm>
            <a:off x="619125" y="2381250"/>
            <a:ext cx="9048750" cy="4191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9125" y="2381250"/>
            <a:ext cx="9048750" cy="4191000"/>
          </a:xfrm>
          <a:prstGeom prst="rect">
            <a:avLst/>
          </a:prstGeom>
          <a:noFill/>
          <a:ln w="9525">
            <a:solidFill>
              <a:srgbClr val="3A2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125" y="6810375"/>
            <a:ext cx="2914650" cy="1238250"/>
          </a:xfrm>
          <a:prstGeom prst="rect">
            <a:avLst/>
          </a:prstGeom>
          <a:solidFill>
            <a:srgbClr val="241C18"/>
          </a:solidFill>
          <a:ln w="9525">
            <a:solidFill>
              <a:srgbClr val="3A2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1525" y="6943725"/>
            <a:ext cx="3048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D4A373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6943725"/>
            <a:ext cx="226695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1">
                <a:solidFill>
                  <a:srgbClr val="FDFBF7"/>
                </a:solidFill>
                <a:latin typeface="Montserrat"/>
              </a:rPr>
              <a:t>100% Arabica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1525" y="7248525"/>
            <a:ext cx="2609850" cy="9525"/>
          </a:xfrm>
          <a:prstGeom prst="rect">
            <a:avLst/>
          </a:prstGeom>
          <a:solidFill>
            <a:srgbClr val="3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525" y="7324725"/>
            <a:ext cx="2609850" cy="6191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8BDB0"/>
                </a:solidFill>
                <a:latin typeface="Montserrat"/>
              </a:rPr>
              <a:t>Single Origin Aceh Gayo &amp; Toraja Kalosi terkurasi.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6175" y="6810375"/>
            <a:ext cx="2914650" cy="1238250"/>
          </a:xfrm>
          <a:prstGeom prst="rect">
            <a:avLst/>
          </a:prstGeom>
          <a:solidFill>
            <a:srgbClr val="241C18"/>
          </a:solidFill>
          <a:ln w="9525">
            <a:solidFill>
              <a:srgbClr val="3A2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8575" y="6943725"/>
            <a:ext cx="3048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D4A373"/>
                </a:solidFill>
                <a:latin typeface="Montserra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475" y="6943725"/>
            <a:ext cx="226695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1">
                <a:solidFill>
                  <a:srgbClr val="FDFBF7"/>
                </a:solidFill>
                <a:latin typeface="Montserrat"/>
              </a:rPr>
              <a:t>Fresh Roasted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38575" y="7248525"/>
            <a:ext cx="2609850" cy="9525"/>
          </a:xfrm>
          <a:prstGeom prst="rect">
            <a:avLst/>
          </a:prstGeom>
          <a:solidFill>
            <a:srgbClr val="3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38575" y="7324725"/>
            <a:ext cx="2609850" cy="6191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8BDB0"/>
                </a:solidFill>
                <a:latin typeface="Montserrat"/>
              </a:rPr>
              <a:t>Disangrai harian berkalibrasi kurva suhu presisi.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53225" y="6810375"/>
            <a:ext cx="2914650" cy="1238250"/>
          </a:xfrm>
          <a:prstGeom prst="rect">
            <a:avLst/>
          </a:prstGeom>
          <a:solidFill>
            <a:srgbClr val="241C18"/>
          </a:solidFill>
          <a:ln w="9525">
            <a:solidFill>
              <a:srgbClr val="3A2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5625" y="6943725"/>
            <a:ext cx="3048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D4A373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8525" y="6943725"/>
            <a:ext cx="226695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1">
                <a:solidFill>
                  <a:srgbClr val="FDFBF7"/>
                </a:solidFill>
                <a:latin typeface="Montserrat"/>
              </a:rPr>
              <a:t>Master Barista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5625" y="7248525"/>
            <a:ext cx="2609850" cy="9525"/>
          </a:xfrm>
          <a:prstGeom prst="rect">
            <a:avLst/>
          </a:prstGeom>
          <a:solidFill>
            <a:srgbClr val="3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5625" y="7324725"/>
            <a:ext cx="2609850" cy="6191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8BDB0"/>
                </a:solidFill>
                <a:latin typeface="Montserrat"/>
              </a:rPr>
              <a:t>Ekstraksi rasio ideal 1:2 bertekanan stabil 9 bar.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125" y="8239125"/>
            <a:ext cx="9048750" cy="419100"/>
          </a:xfrm>
          <a:prstGeom prst="rect">
            <a:avLst/>
          </a:prstGeom>
          <a:solidFill>
            <a:srgbClr val="241C18"/>
          </a:solidFill>
          <a:ln w="9525">
            <a:solidFill>
              <a:srgbClr val="3A2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125" y="8353425"/>
            <a:ext cx="904875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D4A373"/>
                </a:solidFill>
                <a:latin typeface="Montserrat"/>
              </a:rPr>
              <a:t>SKOR MUTU 94.6 SCA  ·  2.500+ ULASAN KEPUASAN PELANGGAN  ·  SERAHAN TANGAN TERTINGGI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125" y="8810625"/>
            <a:ext cx="9048750" cy="457200"/>
          </a:xfrm>
          <a:prstGeom prst="rect">
            <a:avLst/>
          </a:prstGeom>
          <a:solidFill>
            <a:srgbClr val="16110D"/>
          </a:solidFill>
          <a:ln w="9525">
            <a:solidFill>
              <a:srgbClr val="3A2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125" y="8943975"/>
            <a:ext cx="904875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C8BDB0"/>
                </a:solidFill>
                <a:latin typeface="Montserrat"/>
              </a:rPr>
              <a:t>JL. SENOPATI NO. 18, JAKARTA SELATAN  |  BUKA SETIAP HARI: 08.00 - 22.00 WIB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125" y="9448800"/>
            <a:ext cx="9048750" cy="647700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125" y="9448800"/>
            <a:ext cx="904875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75" b="1">
                <a:solidFill>
                  <a:srgbClr val="120D0A"/>
                </a:solidFill>
                <a:latin typeface="Montserrat"/>
              </a:rPr>
              <a:t>KUNJUNGI KEDAI ATAU PESAN ONLINE SEKARANG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125" y="10239375"/>
            <a:ext cx="904875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8D7666"/>
                </a:solidFill>
                <a:latin typeface="Montserrat"/>
              </a:rPr>
              <a:t>Diseduh dengan dedikasi dan presisi untuk setiap cangkir bernilai  ·  @artisancoffee.id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