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D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-666750" y="-666750"/>
            <a:ext cx="2667000" cy="2667000"/>
          </a:xfrm>
          <a:prstGeom prst="donut">
            <a:avLst>
              <a:gd name="adj" fmla="val 12000"/>
            </a:avLst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8953500" y="11144250"/>
            <a:ext cx="2476500" cy="2476500"/>
          </a:xfrm>
          <a:prstGeom prst="donut">
            <a:avLst>
              <a:gd name="adj" fmla="val 10000"/>
            </a:avLst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9239250" y="428625"/>
            <a:ext cx="381000" cy="381000"/>
          </a:xfrm>
          <a:prstGeom prst="star4">
            <a:avLst/>
          </a:prstGeom>
          <a:solidFill>
            <a:srgbClr val="F5B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4-Point Star 4"/>
          <p:cNvSpPr/>
          <p:nvPr/>
        </p:nvSpPr>
        <p:spPr>
          <a:xfrm>
            <a:off x="428625" y="6477000"/>
            <a:ext cx="304800" cy="304800"/>
          </a:xfrm>
          <a:prstGeom prst="star4">
            <a:avLst/>
          </a:prstGeom>
          <a:solidFill>
            <a:srgbClr val="F5B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9477375" y="6810375"/>
            <a:ext cx="323850" cy="323850"/>
          </a:xfrm>
          <a:prstGeom prst="star4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4-Point Star 6"/>
          <p:cNvSpPr/>
          <p:nvPr/>
        </p:nvSpPr>
        <p:spPr>
          <a:xfrm>
            <a:off x="4724400" y="381000"/>
            <a:ext cx="228600" cy="228600"/>
          </a:xfrm>
          <a:prstGeom prst="star4">
            <a:avLst/>
          </a:prstGeom>
          <a:solidFill>
            <a:srgbClr val="F5B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125" y="476250"/>
            <a:ext cx="3143250" cy="400050"/>
          </a:xfrm>
          <a:prstGeom prst="round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125" y="476250"/>
            <a:ext cx="314325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75" b="1">
                <a:solidFill>
                  <a:srgbClr val="120D0A"/>
                </a:solidFill>
                <a:latin typeface="Montserrat"/>
              </a:rPr>
              <a:t>SPECIALTY ROASTERY &amp; CAFE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" y="1000125"/>
            <a:ext cx="9048750" cy="8096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DFBF7"/>
                </a:solidFill>
                <a:latin typeface="Montserrat"/>
              </a:rPr>
              <a:t>Artisan Coffee Masterpiece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125" y="1857375"/>
            <a:ext cx="9048750" cy="4286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75" b="0">
                <a:solidFill>
                  <a:srgbClr val="C8BDB0"/>
                </a:solidFill>
                <a:latin typeface="Montserrat"/>
              </a:rPr>
              <a:t>Racikan Biji Kopi Arabica Pilihan dengan Aroma Autentik &amp; Tekstur Lembut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1975" y="2324100"/>
            <a:ext cx="9163050" cy="4210050"/>
          </a:xfrm>
          <a:prstGeom prst="round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tisan_coffee.jpg"/>
          <p:cNvPicPr>
            <a:picLocks noChangeAspect="1"/>
          </p:cNvPicPr>
          <p:nvPr/>
        </p:nvPicPr>
        <p:blipFill>
          <a:blip r:embed="rId2"/>
          <a:srcRect t="19690" b="19690"/>
          <a:stretch>
            <a:fillRect/>
          </a:stretch>
        </p:blipFill>
        <p:spPr>
          <a:xfrm>
            <a:off x="619125" y="2381250"/>
            <a:ext cx="9048750" cy="4095750"/>
          </a:xfrm>
          <a:prstGeom prst="rect">
            <a:avLst/>
          </a:prstGeom>
        </p:spPr>
      </p:pic>
      <p:sp>
        <p:nvSpPr>
          <p:cNvPr id="14" name="5-Point Star 13"/>
          <p:cNvSpPr/>
          <p:nvPr/>
        </p:nvSpPr>
        <p:spPr>
          <a:xfrm>
            <a:off x="8524875" y="2143125"/>
            <a:ext cx="1333500" cy="1333500"/>
          </a:xfrm>
          <a:prstGeom prst="star5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24875" y="2476500"/>
            <a:ext cx="13335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Montserrat"/>
              </a:rPr>
              <a:t>DISKON</a:t>
            </a:r>
          </a:p>
          <a:p>
            <a:pPr algn="ctr"/>
            <a:r>
              <a:rPr sz="1350" b="1">
                <a:solidFill>
                  <a:srgbClr val="FFFFFF"/>
                </a:solidFill>
                <a:latin typeface="Montserrat"/>
              </a:rPr>
              <a:t>25%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1525" y="6019800"/>
            <a:ext cx="2381250" cy="342900"/>
          </a:xfrm>
          <a:prstGeom prst="roundRect">
            <a:avLst/>
          </a:prstGeom>
          <a:solidFill>
            <a:srgbClr val="24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1525" y="6019800"/>
            <a:ext cx="2381250" cy="3429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75" b="1">
                <a:solidFill>
                  <a:srgbClr val="F5B041"/>
                </a:solidFill>
                <a:latin typeface="Montserrat"/>
              </a:rPr>
              <a:t>Fresh Brewed Everyday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" y="6715125"/>
            <a:ext cx="2914650" cy="1285875"/>
          </a:xfrm>
          <a:prstGeom prst="roundRect">
            <a:avLst/>
          </a:prstGeom>
          <a:solidFill>
            <a:srgbClr val="24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752475" y="6848475"/>
            <a:ext cx="266700" cy="266700"/>
          </a:xfrm>
          <a:prstGeom prst="hexagon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475" y="6848475"/>
            <a:ext cx="2667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120D0A"/>
                </a:solidFill>
                <a:latin typeface="Montserrat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375" y="6858000"/>
            <a:ext cx="2381250" cy="2476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1">
                <a:solidFill>
                  <a:srgbClr val="FDFBF7"/>
                </a:solidFill>
                <a:latin typeface="Montserrat"/>
              </a:rPr>
              <a:t>100% Arabica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" y="7172325"/>
            <a:ext cx="2647950" cy="714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5" b="0">
                <a:solidFill>
                  <a:srgbClr val="C8BDB0"/>
                </a:solidFill>
                <a:latin typeface="Montserrat"/>
              </a:rPr>
              <a:t>Single Origin Aceh Gayo &amp; Toraja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6175" y="6715125"/>
            <a:ext cx="2914650" cy="1285875"/>
          </a:xfrm>
          <a:prstGeom prst="roundRect">
            <a:avLst/>
          </a:prstGeom>
          <a:solidFill>
            <a:srgbClr val="24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3819525" y="6848475"/>
            <a:ext cx="266700" cy="266700"/>
          </a:xfrm>
          <a:prstGeom prst="hexagon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9525" y="6848475"/>
            <a:ext cx="2667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120D0A"/>
                </a:solidFill>
                <a:latin typeface="Montserrat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6858000"/>
            <a:ext cx="2381250" cy="2476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1">
                <a:solidFill>
                  <a:srgbClr val="FDFBF7"/>
                </a:solidFill>
                <a:latin typeface="Montserrat"/>
              </a:rPr>
              <a:t>Fresh Roasted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9525" y="7172325"/>
            <a:ext cx="2647950" cy="714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5" b="0">
                <a:solidFill>
                  <a:srgbClr val="C8BDB0"/>
                </a:solidFill>
                <a:latin typeface="Montserrat"/>
              </a:rPr>
              <a:t>Disangrai harian profil rasa optimal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53225" y="6715125"/>
            <a:ext cx="2914650" cy="1285875"/>
          </a:xfrm>
          <a:prstGeom prst="roundRect">
            <a:avLst/>
          </a:prstGeom>
          <a:solidFill>
            <a:srgbClr val="24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886575" y="6848475"/>
            <a:ext cx="266700" cy="266700"/>
          </a:xfrm>
          <a:prstGeom prst="hexagon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86575" y="6848475"/>
            <a:ext cx="2667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120D0A"/>
                </a:solidFill>
                <a:latin typeface="Montserra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9475" y="6858000"/>
            <a:ext cx="2381250" cy="2476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25" b="1">
                <a:solidFill>
                  <a:srgbClr val="FDFBF7"/>
                </a:solidFill>
                <a:latin typeface="Montserrat"/>
              </a:rPr>
              <a:t>Master Barista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6575" y="7172325"/>
            <a:ext cx="2647950" cy="714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75" b="0">
                <a:solidFill>
                  <a:srgbClr val="C8BDB0"/>
                </a:solidFill>
                <a:latin typeface="Montserrat"/>
              </a:rPr>
              <a:t>Seduhan presisi suhu &amp; rasio ideal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125" y="8191500"/>
            <a:ext cx="9048750" cy="457200"/>
          </a:xfrm>
          <a:prstGeom prst="roundRect">
            <a:avLst/>
          </a:prstGeom>
          <a:solidFill>
            <a:srgbClr val="24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5-Point Star 33"/>
          <p:cNvSpPr/>
          <p:nvPr/>
        </p:nvSpPr>
        <p:spPr>
          <a:xfrm>
            <a:off x="771525" y="8305800"/>
            <a:ext cx="228600" cy="228600"/>
          </a:xfrm>
          <a:prstGeom prst="star5">
            <a:avLst/>
          </a:prstGeom>
          <a:solidFill>
            <a:srgbClr val="F5B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5375" y="8191500"/>
            <a:ext cx="847725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DFBF7"/>
                </a:solidFill>
                <a:latin typeface="Montserrat"/>
              </a:rPr>
              <a:t>Rating 4.9/5.0 dari 2.500+ Ulasan Pelanggan  ·  Pilihan Utama Pecinta Kopi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125" y="8810625"/>
            <a:ext cx="9048750" cy="495300"/>
          </a:xfrm>
          <a:prstGeom prst="roundRect">
            <a:avLst/>
          </a:prstGeom>
          <a:solidFill>
            <a:srgbClr val="1812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790575" y="8972550"/>
            <a:ext cx="171450" cy="171450"/>
          </a:xfrm>
          <a:prstGeom prst="chevron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7275" y="8810625"/>
            <a:ext cx="8515350" cy="495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C8BDB0"/>
                </a:solidFill>
                <a:latin typeface="Montserrat"/>
              </a:rPr>
              <a:t>Jl. Senopati No. 18, Kebayoran Baru, Jakarta Selatan  |  Buka Setiap Hari: 08.00 - 22.00 WIB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125" y="9505950"/>
            <a:ext cx="9048750" cy="666750"/>
          </a:xfrm>
          <a:prstGeom prst="roundRect">
            <a:avLst/>
          </a:prstGeom>
          <a:solidFill>
            <a:srgbClr val="D4A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125" y="9505950"/>
            <a:ext cx="904875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25" b="1">
                <a:solidFill>
                  <a:srgbClr val="120D0A"/>
                </a:solidFill>
                <a:latin typeface="Montserrat"/>
              </a:rPr>
              <a:t>KUNJUNGI KEDAI ATAU PESAN ONLINE SEKARANG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125" y="10334625"/>
            <a:ext cx="90487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75" b="0">
                <a:solidFill>
                  <a:srgbClr val="8D7666"/>
                </a:solidFill>
                <a:latin typeface="Montserrat"/>
              </a:rPr>
              <a:t>Diseduh dengan cinta dan presisi untuk setiap cangkir berharga  ·  @artisancoffee.id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