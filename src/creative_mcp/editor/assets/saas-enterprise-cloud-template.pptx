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6366F1"/>
                </a:solidFill>
                <a:latin typeface="Montserrat"/>
              </a:rPr>
              <a:t>VENTURE PITCH DECK //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5" y="585787"/>
            <a:ext cx="3333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Montserrat"/>
              </a:rPr>
              <a:t>CONFIDENTIAL &amp; PROPRIETARY</a:t>
            </a:r>
          </a:p>
        </p:txBody>
      </p:sp>
      <p:pic>
        <p:nvPicPr>
          <p:cNvPr id="5" name="Picture 4" descr="tech_hero.jpg"/>
          <p:cNvPicPr>
            <a:picLocks noChangeAspect="1"/>
          </p:cNvPicPr>
          <p:nvPr/>
        </p:nvPicPr>
        <p:blipFill>
          <a:blip r:embed="rId2"/>
          <a:srcRect l="17536" r="17536"/>
          <a:stretch>
            <a:fillRect/>
          </a:stretch>
        </p:blipFill>
        <p:spPr>
          <a:xfrm>
            <a:off x="9770745" y="2263140"/>
            <a:ext cx="7898129" cy="6789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70745" y="2263140"/>
            <a:ext cx="7898129" cy="6789420"/>
          </a:xfrm>
          <a:prstGeom prst="rect">
            <a:avLst/>
          </a:prstGeom>
          <a:noFill/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1245" y="8442960"/>
            <a:ext cx="2476500" cy="419100"/>
          </a:xfrm>
          <a:prstGeom prst="rect">
            <a:avLst/>
          </a:prstGeom>
          <a:solidFill>
            <a:srgbClr val="0A0E17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1245" y="8519160"/>
            <a:ext cx="2476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6366F1"/>
                </a:solidFill>
                <a:latin typeface="Montserrat"/>
              </a:rPr>
              <a:t>SERI A // Rp 50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571750"/>
            <a:ext cx="867537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PLATFORM OTOMASI SAAS ENTERPRISE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657850"/>
            <a:ext cx="38100" cy="1047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725" y="5657850"/>
            <a:ext cx="8446770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ontserrat"/>
              </a:rPr>
              <a:t>Orkestrasi Alur Kerja Multi-Kanal dengan Analisis Kinerja Karyawan Real-Time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9096375"/>
            <a:ext cx="8865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" y="9286875"/>
            <a:ext cx="677037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Direktorat Strategi &amp; Kemitraan Korporat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9995" y="9191625"/>
            <a:ext cx="1905000" cy="419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9995" y="9267825"/>
            <a:ext cx="1905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PITCH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Montserrat"/>
              </a:rPr>
              <a:t>01 / 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Inefisiensi Struktural yang Dihadapi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68880"/>
            <a:ext cx="1280160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Kesenjangan tajam antara tuntutan kecepatan pasar dan infrastruktur warisan yang berjalan saat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600450"/>
            <a:ext cx="83820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790950"/>
            <a:ext cx="419100" cy="30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2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Fragmentasi Sistem Warisan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lintas kanal terhambat arsitektur silo yang lambat dan rentan inkonsistensi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7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6875" y="3600450"/>
            <a:ext cx="8382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5475" y="3790950"/>
            <a:ext cx="419100" cy="30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47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87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Beban Operasional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547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47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Proses manual berulang meningkatkan biaya tenaga kerja serta resiko kesalahan manusia.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6503670"/>
            <a:ext cx="8382000" cy="285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6694170"/>
            <a:ext cx="419100" cy="30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72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Keterlambatan Siklus Rilis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72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Waktu peluncuran fitur baru membutuhkan hitungan minggu tanpa otomasi validasi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87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6875" y="6503670"/>
            <a:ext cx="8382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5475" y="6694170"/>
            <a:ext cx="419100" cy="30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47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87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Keterbatasan Visibilitas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547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Pimpinan kekurangan akses dasbor analitik terpadu untuk keputusan strategis cepat.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66F1"/>
                </a:solidFill>
                <a:latin typeface="Montserrat"/>
              </a:rPr>
              <a:t>02 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7412355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Montserrat"/>
              </a:rPr>
              <a:t>Solusi Terintegrasi Berbasis Arsitektur Cerdas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526280"/>
            <a:ext cx="7412355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Menggabungkan pemrosesan throughput tinggi, keandalan 99.95% uptime, dan orkestrasi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6686550"/>
            <a:ext cx="7412355" cy="514350"/>
          </a:xfrm>
          <a:prstGeom prst="rect">
            <a:avLst/>
          </a:prstGeom>
          <a:solidFill>
            <a:srgbClr val="16203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6838950"/>
            <a:ext cx="741235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366F1"/>
                </a:solidFill>
                <a:latin typeface="Montserrat"/>
              </a:rPr>
              <a:t>REDUKSI BIAYA INFRASTRUKTUR HINGGA 42%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57400"/>
            <a:ext cx="9525" cy="6686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3480" y="226314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3980" y="241554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38BDF8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855" y="241554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Skalabilitas Awan Elastis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7855" y="275844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Infrastruktur kontainer terdistribusi yang menyesuaikan kapasitas lalu lintas dinamis secara mulus.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452628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980" y="467868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38BDF8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855" y="467868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Enkripsi &amp; Tata Kelola Standar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7855" y="502158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Protokol perlindungan data berstandar enterprise dengan jejak audit komprehensif.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3480" y="678942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694182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38BDF8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7855" y="694182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Konektor API Instan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7855" y="728472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modular yang mudah disematkan pada sistem yang sedang beroperasi tanpa penghentian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66F1"/>
                </a:solidFill>
                <a:latin typeface="Montserrat"/>
              </a:rPr>
              <a:t>03 / TRACTION &amp; FINANCIAL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Pertumbuhan Eksponensial &amp; Metrik Kinerja Teruji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291840"/>
            <a:ext cx="5556250" cy="476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6366F1"/>
                </a:solidFill>
                <a:latin typeface="Montserrat"/>
              </a:rPr>
              <a:t>+240%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PERTUMBUHAN TAHUNAN (YoY)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Pertumbuhan pendapatan berulang murni tanpa pembengkakan biaya akuisisi pengguna.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587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5875" y="3291840"/>
            <a:ext cx="555625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447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38BDF8"/>
                </a:solidFill>
                <a:latin typeface="Montserrat"/>
              </a:rP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47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RETENSI PENGGUNA 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447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Retensi tingkat tinggi berkat ketergantungan workflow harian yang efisien.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26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12625" y="3291840"/>
            <a:ext cx="5556250" cy="476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12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6366F1"/>
                </a:solidFill>
                <a:latin typeface="Montserrat"/>
              </a:rPr>
              <a:t>Rp 65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12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TOTAL VOLUME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12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Volume transaksi bruto yang telah diproses secara aman dalam periode pelaporan.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Montserrat"/>
              </a:rPr>
              <a:t>04 / STRATEGIC INVESTMENT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1188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Membangun Ekosistem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03320"/>
            <a:ext cx="1316735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Montserrat"/>
              </a:rPr>
              <a:t>Alokasi Rencana Pendanaan: 45% Riset &amp; Rekayasa Produk · 35% Ekspansi Penetrasi Pasar · 20% Cadangan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554980"/>
            <a:ext cx="17049750" cy="3291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5966460"/>
            <a:ext cx="3810000" cy="247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66F1"/>
                </a:solidFill>
                <a:latin typeface="Montserrat"/>
              </a:rPr>
              <a:t>KANTOR PUSAT &amp; JALUR KEMITRAAN RESMI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6583680"/>
            <a:ext cx="82296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Konsorsium Ekosistem Cipta Digital Nusantara</a:t>
            </a:r>
          </a:p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Surat Elektronik: kemitraan@digitalnusantara.id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7818120"/>
            <a:ext cx="82296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75" b="0">
                <a:solidFill>
                  <a:srgbClr val="94A3B8"/>
                </a:solidFill>
                <a:latin typeface="Montserrat"/>
              </a:rPr>
              <a:t>Dokumen ini disiapkan khusus untuk mitra strategis dan dilindungi kerahasiaan korporasi.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30375" y="6583680"/>
            <a:ext cx="2857500" cy="533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30375" y="6736080"/>
            <a:ext cx="2857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JADWALKAN DISKUSI STRATEGIS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